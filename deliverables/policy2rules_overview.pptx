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691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400" b="1" i="0">
                <a:solidFill>
                  <a:srgbClr val="1F7A8C"/>
                </a:solidFill>
                <a:latin typeface="Calibri"/>
              </a:rPr>
              <a:t>CONTENT MANAGEMENT IN HEALTH 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14884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Converting Policy Documents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into Computable Assets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977639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9FC5CE"/>
                </a:solidFill>
                <a:latin typeface="Calibri"/>
              </a:rPr>
              <a:t>A working proof of concept: policy2rules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512064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Naga Venkata Sai Chennu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FC5CE"/>
                </a:solidFill>
                <a:latin typeface="Calibri"/>
              </a:rPr>
              <a:t>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F7A8C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F2233"/>
                </a:solidFill>
                <a:latin typeface="Calibri"/>
              </a:rPr>
              <a:t>Health care runs on documents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27632"/>
            <a:ext cx="10607040" cy="12700"/>
          </a:xfrm>
          <a:prstGeom prst="rect">
            <a:avLst/>
          </a:prstGeom>
          <a:solidFill>
            <a:srgbClr val="D8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5852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500" b="0" i="0">
                <a:solidFill>
                  <a:srgbClr val="0F2233"/>
                </a:solidFill>
                <a:latin typeface="Calibri"/>
              </a:rPr>
              <a:t>Billing and coding policies, clinical guidelines, and payer contracts decide what gets covered, how it is billed, and who gets paid.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500" b="0" i="0">
                <a:solidFill>
                  <a:srgbClr val="0F2233"/>
                </a:solidFill>
                <a:latin typeface="Calibri"/>
              </a:rPr>
              <a:t>Most of it still lives as plain prose in PDFs and web portals.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500" b="0" i="0">
                <a:solidFill>
                  <a:srgbClr val="0F2233"/>
                </a:solidFill>
                <a:latin typeface="Calibri"/>
              </a:rPr>
              <a:t>So a person reads each policy, works out what it means, and manually turns it into claim edits, audit rules, or prior authorization criteria.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500" b="1" i="0">
                <a:solidFill>
                  <a:srgbClr val="B5501E"/>
                </a:solidFill>
                <a:latin typeface="Calibri"/>
              </a:rPr>
              <a:t>That translation work is slow, expensive, and easy to get wrong.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1965960"/>
            <a:ext cx="4434840" cy="3291840"/>
          </a:xfrm>
          <a:prstGeom prst="roundRect">
            <a:avLst/>
          </a:prstGeom>
          <a:solidFill>
            <a:srgbClr val="F2F5F7"/>
          </a:solidFill>
          <a:ln w="9525">
            <a:solidFill>
              <a:srgbClr val="D8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2286000"/>
            <a:ext cx="3703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100" b="1" i="0">
                <a:solidFill>
                  <a:srgbClr val="1F7A8C"/>
                </a:solidFill>
                <a:latin typeface="Calibri"/>
              </a:rPr>
              <a:t>WHY IT MATTERS FOR COTIVITI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0F2233"/>
                </a:solidFill>
                <a:latin typeface="Calibri"/>
              </a:rPr>
              <a:t>Cotiviti's business depends on encoding thousands of payer policies into accurate claim edits and audit logic.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2233"/>
                </a:solidFill>
                <a:latin typeface="Calibri"/>
              </a:rPr>
              <a:t>Policy content is not a back-office concern. It is the raw material of the product.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B77"/>
                </a:solidFill>
                <a:latin typeface="Calibri"/>
              </a:rPr>
              <a:t>policy2rules  |  Content management in health care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32764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B77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F7A8C"/>
                </a:solidFill>
                <a:latin typeface="Calibri"/>
              </a:rPr>
              <a:t>RELEVANT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F2233"/>
                </a:solidFill>
                <a:latin typeface="Calibri"/>
              </a:rPr>
              <a:t>Three forces make this urgent now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27632"/>
            <a:ext cx="10607040" cy="12700"/>
          </a:xfrm>
          <a:prstGeom prst="rect">
            <a:avLst/>
          </a:prstGeom>
          <a:solidFill>
            <a:srgbClr val="D8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965960"/>
            <a:ext cx="3291840" cy="3566160"/>
          </a:xfrm>
          <a:prstGeom prst="roundRect">
            <a:avLst/>
          </a:prstGeom>
          <a:solidFill>
            <a:srgbClr val="F2F5F7"/>
          </a:solidFill>
          <a:ln w="9525">
            <a:solidFill>
              <a:srgbClr val="D8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65960"/>
            <a:ext cx="3291840" cy="82296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240280"/>
            <a:ext cx="27432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1" i="0">
                <a:solidFill>
                  <a:srgbClr val="1F7A8C"/>
                </a:solidFill>
                <a:latin typeface="Calibri"/>
              </a:rPr>
              <a:t>ECONOMICS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0F2233"/>
                </a:solidFill>
                <a:latin typeface="Calibri"/>
              </a:rPr>
              <a:t>Administrative activity is 15–30% of US medical spending (Health Affairs, 2022).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0F2233"/>
                </a:solidFill>
                <a:latin typeface="Calibri"/>
              </a:rPr>
              <a:t>Billing costs reach hundreds of dollars for a single complex inpatient bill (Tseng et al., 2018).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0F2233"/>
                </a:solidFill>
                <a:latin typeface="Calibri"/>
              </a:rPr>
              <a:t>Every hour between policy published and rule deployed adds to that burden.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965960"/>
            <a:ext cx="3291840" cy="3566160"/>
          </a:xfrm>
          <a:prstGeom prst="roundRect">
            <a:avLst/>
          </a:prstGeom>
          <a:solidFill>
            <a:srgbClr val="F2F5F7"/>
          </a:solidFill>
          <a:ln w="9525">
            <a:solidFill>
              <a:srgbClr val="D8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0832" y="1965960"/>
            <a:ext cx="3291840" cy="82296"/>
          </a:xfrm>
          <a:prstGeom prst="rect">
            <a:avLst/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5152" y="2240280"/>
            <a:ext cx="27432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1" i="0">
                <a:solidFill>
                  <a:srgbClr val="2E6B4F"/>
                </a:solidFill>
                <a:latin typeface="Calibri"/>
              </a:rPr>
              <a:t>TECHNOLOGY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0F2233"/>
                </a:solidFill>
                <a:latin typeface="Calibri"/>
              </a:rPr>
              <a:t>Guideline interpretation accuracy rose from 43% to 99% when guidelines were restructured and given to an LLM via RAG (Kresevic et al., 2024).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0F2233"/>
                </a:solidFill>
                <a:latin typeface="Calibri"/>
              </a:rPr>
              <a:t>The raw capability is there. The hard part now is reliability engineering, not the models.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64424" y="1965960"/>
            <a:ext cx="3291840" cy="3566160"/>
          </a:xfrm>
          <a:prstGeom prst="roundRect">
            <a:avLst/>
          </a:prstGeom>
          <a:solidFill>
            <a:srgbClr val="F2F5F7"/>
          </a:solidFill>
          <a:ln w="9525">
            <a:solidFill>
              <a:srgbClr val="D8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64424" y="1965960"/>
            <a:ext cx="3291840" cy="82296"/>
          </a:xfrm>
          <a:prstGeom prst="rect">
            <a:avLst/>
          </a:prstGeom>
          <a:solidFill>
            <a:srgbClr val="B55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38744" y="2240280"/>
            <a:ext cx="27432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1" i="0">
                <a:solidFill>
                  <a:srgbClr val="B5501E"/>
                </a:solidFill>
                <a:latin typeface="Calibri"/>
              </a:rPr>
              <a:t>REGULATION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0F2233"/>
                </a:solidFill>
                <a:latin typeface="Calibri"/>
              </a:rPr>
              <a:t>CMS-0057-F: faster prior authorization timelines and specific denial reasons from 2026.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0F2233"/>
                </a:solidFill>
                <a:latin typeface="Calibri"/>
              </a:rPr>
              <a:t>FHIR-based Prior Authorization APIs required by January 1, 2027.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0F2233"/>
                </a:solidFill>
                <a:latin typeface="Calibri"/>
              </a:rPr>
              <a:t>A 72-hour urgent decision window is hard to meet with criteria buried in prose.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7150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5A6B77"/>
                </a:solidFill>
                <a:latin typeface="Calibri"/>
              </a:rPr>
              <a:t>Surveys cited by Cotiviti suggest that more than 85% of payers are already using or piloting generative AI, and that available AI could cut payer administrative costs by as much as 25%.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3276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B77"/>
                </a:solidFill>
                <a:latin typeface="Calibri"/>
              </a:rPr>
              <a:t>policy2rules  |  Content management in health care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32764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B77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F7A8C"/>
                </a:solidFill>
                <a:latin typeface="Calibri"/>
              </a:rPr>
              <a:t>OPPORTUNITIES AND THREATS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F2233"/>
                </a:solidFill>
                <a:latin typeface="Calibri"/>
              </a:rPr>
              <a:t>Speed on one side, model risk on the other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27632"/>
            <a:ext cx="10607040" cy="12700"/>
          </a:xfrm>
          <a:prstGeom prst="rect">
            <a:avLst/>
          </a:prstGeom>
          <a:solidFill>
            <a:srgbClr val="D8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965960"/>
            <a:ext cx="5212080" cy="3657600"/>
          </a:xfrm>
          <a:prstGeom prst="roundRect">
            <a:avLst/>
          </a:prstGeom>
          <a:solidFill>
            <a:srgbClr val="F2F5F7"/>
          </a:solidFill>
          <a:ln w="9525">
            <a:solidFill>
              <a:srgbClr val="D8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65960"/>
            <a:ext cx="5212080" cy="82296"/>
          </a:xfrm>
          <a:prstGeom prst="rect">
            <a:avLst/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24028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200" b="1" i="0">
                <a:solidFill>
                  <a:srgbClr val="2E6B4F"/>
                </a:solidFill>
                <a:latin typeface="Calibri"/>
              </a:rPr>
              <a:t>OPPORTUNITY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0F2233"/>
                </a:solidFill>
                <a:latin typeface="Calibri"/>
              </a:rPr>
              <a:t>When CMS updates a coverage determination, an LLM pipeline can summarize the change, diff it against the prior version, and draft candidate claim edits in hours rather than weeks.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0F2233"/>
                </a:solidFill>
                <a:latin typeface="Calibri"/>
              </a:rPr>
              <a:t>Grows the edit library faster and shortens client onboarding.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0F2233"/>
                </a:solidFill>
                <a:latin typeface="Calibri"/>
              </a:rPr>
              <a:t>Citation-linked rationale on each edit is exactly the explanation CMS-0057-F now expects.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0F2233"/>
                </a:solidFill>
                <a:latin typeface="Calibri"/>
              </a:rPr>
              <a:t>The work compounds: every policy converted becomes reusable structured content for analytics, audit selection, and fraud detection.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965960"/>
            <a:ext cx="5212080" cy="3657600"/>
          </a:xfrm>
          <a:prstGeom prst="roundRect">
            <a:avLst/>
          </a:prstGeom>
          <a:solidFill>
            <a:srgbClr val="F2F5F7"/>
          </a:solidFill>
          <a:ln w="9525">
            <a:solidFill>
              <a:srgbClr val="D8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965960"/>
            <a:ext cx="5212080" cy="82296"/>
          </a:xfrm>
          <a:prstGeom prst="rect">
            <a:avLst/>
          </a:prstGeom>
          <a:solidFill>
            <a:srgbClr val="B55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24028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200" b="1" i="0">
                <a:solidFill>
                  <a:srgbClr val="B5501E"/>
                </a:solidFill>
                <a:latin typeface="Calibri"/>
              </a:rPr>
              <a:t>THREAT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0F2233"/>
                </a:solidFill>
                <a:latin typeface="Calibri"/>
              </a:rPr>
              <a:t>The same tools lower the barrier for competitors, including startups that move quickly on policy-driven workflows.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0F2233"/>
                </a:solidFill>
                <a:latin typeface="Calibri"/>
              </a:rPr>
              <a:t>Model risk is the more serious issue. A hallucinated or subtly wrong rule conversion can produce improper denials, and with them regulatory exposure and reputational damage.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0F2233"/>
                </a:solidFill>
                <a:latin typeface="Calibri"/>
              </a:rPr>
              <a:t>Human review and audit trails must be built in from the start.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0F2233"/>
                </a:solidFill>
                <a:latin typeface="Calibri"/>
              </a:rPr>
              <a:t>Dependency risk: relying on third-party foundation models raises cost, privacy, and continuity questions.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3276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B77"/>
                </a:solidFill>
                <a:latin typeface="Calibri"/>
              </a:rPr>
              <a:t>policy2rules  |  Content management in health care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32764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B77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F7A8C"/>
                </a:solidFill>
                <a:latin typeface="Calibri"/>
              </a:rPr>
              <a:t>THE PROOF OF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F2233"/>
                </a:solidFill>
                <a:latin typeface="Calibri"/>
              </a:rPr>
              <a:t>The model writes rules. It does not decide claims.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27632"/>
            <a:ext cx="10607040" cy="12700"/>
          </a:xfrm>
          <a:prstGeom prst="rect">
            <a:avLst/>
          </a:prstGeom>
          <a:solidFill>
            <a:srgbClr val="D8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A6B77"/>
                </a:solidFill>
                <a:latin typeface="Calibri"/>
              </a:rPr>
              <a:t>policy2rules - a single-file Streamlit app on gpt-4o-mini: summarize a policy, compare two versions, convert policy text into executable claim rules.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286000"/>
            <a:ext cx="2377440" cy="13716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7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0F2233"/>
                </a:solidFill>
              </a:rPr>
              <a:t>Policy text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2286000"/>
            <a:ext cx="2377440" cy="13716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7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0F2233"/>
                </a:solidFill>
              </a:rPr>
              <a:t>gpt-4o-mini</a:t>
            </a:r>
          </a:p>
          <a:p>
            <a:pPr algn="ctr"/>
            <a:r>
              <a:rPr sz="1250" b="1">
                <a:solidFill>
                  <a:srgbClr val="0F2233"/>
                </a:solidFill>
              </a:rPr>
              <a:t>JSON mode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2286000"/>
            <a:ext cx="2743200" cy="13716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0F22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0F2233"/>
                </a:solidFill>
              </a:rPr>
              <a:t>Rules JSON</a:t>
            </a:r>
          </a:p>
          <a:p>
            <a:pPr algn="ctr"/>
            <a:r>
              <a:rPr sz="1250" b="1">
                <a:solidFill>
                  <a:srgbClr val="0F2233"/>
                </a:solidFill>
              </a:rPr>
              <a:t>field / operator / value</a:t>
            </a:r>
          </a:p>
          <a:p>
            <a:pPr algn="ctr"/>
            <a:r>
              <a:rPr sz="1250" b="1">
                <a:solidFill>
                  <a:srgbClr val="0F2233"/>
                </a:solidFill>
              </a:rPr>
              <a:t>decision / reason / source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89720" y="2286000"/>
            <a:ext cx="2194560" cy="13716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2E6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0F2233"/>
                </a:solidFill>
              </a:rPr>
              <a:t>evaluate_claim()</a:t>
            </a:r>
          </a:p>
          <a:p>
            <a:pPr algn="ctr"/>
            <a:r>
              <a:rPr sz="1250" b="1">
                <a:solidFill>
                  <a:srgbClr val="0F2233"/>
                </a:solidFill>
              </a:rPr>
              <a:t>plain Python, no LLM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2944368"/>
            <a:ext cx="201168" cy="25400"/>
          </a:xfrm>
          <a:prstGeom prst="rect">
            <a:avLst/>
          </a:prstGeom>
          <a:solidFill>
            <a:srgbClr val="5A6B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852160" y="2944368"/>
            <a:ext cx="201168" cy="25400"/>
          </a:xfrm>
          <a:prstGeom prst="rect">
            <a:avLst/>
          </a:prstGeom>
          <a:solidFill>
            <a:srgbClr val="5A6B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961120" y="2944368"/>
            <a:ext cx="201168" cy="25400"/>
          </a:xfrm>
          <a:prstGeom prst="rect">
            <a:avLst/>
          </a:prstGeom>
          <a:solidFill>
            <a:srgbClr val="5A6B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77240" y="4114800"/>
            <a:ext cx="10607040" cy="1600200"/>
          </a:xfrm>
          <a:prstGeom prst="roundRect">
            <a:avLst/>
          </a:prstGeom>
          <a:solidFill>
            <a:srgbClr val="F2F5F7"/>
          </a:solidFill>
          <a:ln w="9525">
            <a:solidFill>
              <a:srgbClr val="D8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343400"/>
            <a:ext cx="9875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1F7A8C"/>
                </a:solidFill>
                <a:latin typeface="Calibri"/>
              </a:rPr>
              <a:t>WHY THE SPLIT MATTERS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F2233"/>
                </a:solidFill>
                <a:latin typeface="Calibri"/>
              </a:rPr>
              <a:t>The model is used once, offline, to author rules a human can read and approve. Claim adjudication is then deterministic, auditable, and repeatable: the same claim and the same rules always produce the same decision and the same cited reason. No LLM sits in the path of a live coverage decision.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3276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B77"/>
                </a:solidFill>
                <a:latin typeface="Calibri"/>
              </a:rPr>
              <a:t>policy2rules  |  Content management in health care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32764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B77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F7A8C"/>
                </a:solidFill>
                <a:latin typeface="Calibri"/>
              </a:rP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F2233"/>
                </a:solidFill>
                <a:latin typeface="Calibri"/>
              </a:rPr>
              <a:t>Version diff: what changed and who it moves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27632"/>
            <a:ext cx="10607040" cy="12700"/>
          </a:xfrm>
          <a:prstGeom prst="rect">
            <a:avLst/>
          </a:prstGeom>
          <a:solidFill>
            <a:srgbClr val="D8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A6B77"/>
                </a:solidFill>
                <a:latin typeface="Calibri"/>
              </a:rPr>
              <a:t>Two revisions of a Medicare-style CGM policy. Revision 2.0 tightens one criterion (3 to 4 daily fingerstick tests, sec. 1.4) and adds one (documented prior-therapy failure, sec. 1.7). The change report below caught both. Next: revision 2.0 becomes executable rules, live.</a:t>
            </a:r>
          </a:p>
        </p:txBody>
      </p:sp>
      <p:pic>
        <p:nvPicPr>
          <p:cNvPr id="7" name="Picture 6" descr="screenshot-1785987627872-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3338" y="2340864"/>
            <a:ext cx="7165018" cy="3703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63276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B77"/>
                </a:solidFill>
                <a:latin typeface="Calibri"/>
              </a:rPr>
              <a:t>policy2rules  |  Content management in health care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32764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B77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F7A8C"/>
                </a:solidFill>
                <a:latin typeface="Calibri"/>
              </a:rPr>
              <a:t>WHAT THE BUILD TAUGHT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F2233"/>
                </a:solidFill>
                <a:latin typeface="Calibri"/>
              </a:rPr>
              <a:t>Every failure was reliability, not capability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27632"/>
            <a:ext cx="10607040" cy="12700"/>
          </a:xfrm>
          <a:prstGeom prst="rect">
            <a:avLst/>
          </a:prstGeom>
          <a:solidFill>
            <a:srgbClr val="D8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103120"/>
            <a:ext cx="10607040" cy="1097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82296" cy="1097280"/>
          </a:xfrm>
          <a:prstGeom prst="rect">
            <a:avLst/>
          </a:prstGeom>
          <a:solidFill>
            <a:srgbClr val="B55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249424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5501E"/>
                </a:solidFill>
                <a:latin typeface="Calibri"/>
              </a:rPr>
              <a:t>LOGICAL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2221991"/>
            <a:ext cx="5852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F2233"/>
                </a:solidFill>
                <a:latin typeface="Calibri"/>
              </a:rPr>
              <a:t>The model expressed OR across values by repeating a field with == or !=, which the AND-ed rule format cannot represent.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400" y="2249424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5A6B77"/>
                </a:solidFill>
                <a:latin typeface="Calibri"/>
              </a:rPr>
              <a:t>Denied all four claims.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337560"/>
            <a:ext cx="10607040" cy="1097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337560"/>
            <a:ext cx="82296" cy="1097280"/>
          </a:xfrm>
          <a:prstGeom prst="rect">
            <a:avLst/>
          </a:prstGeom>
          <a:solidFill>
            <a:srgbClr val="B55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483864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5501E"/>
                </a:solidFill>
                <a:latin typeface="Calibri"/>
              </a:rPr>
              <a:t>VOCABULARY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3456432"/>
            <a:ext cx="5852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F2233"/>
                </a:solidFill>
                <a:latin typeface="Calibri"/>
              </a:rPr>
              <a:t>Invented claim values such as "multiple_daily_injections" instead of the schema's "mdi".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400" y="3483864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5A6B77"/>
                </a:solidFill>
                <a:latin typeface="Calibri"/>
              </a:rPr>
              <a:t>Every rule missed.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572000"/>
            <a:ext cx="10607040" cy="1097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572000"/>
            <a:ext cx="82296" cy="1097280"/>
          </a:xfrm>
          <a:prstGeom prst="rect">
            <a:avLst/>
          </a:prstGeom>
          <a:solidFill>
            <a:srgbClr val="B55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718304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5501E"/>
                </a:solidFill>
                <a:latin typeface="Calibri"/>
              </a:rPr>
              <a:t>ATTRIBUTION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4690872"/>
            <a:ext cx="5852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F2233"/>
                </a:solidFill>
                <a:latin typeface="Calibri"/>
              </a:rPr>
              <a:t>A criterion with no matching claim field was encoded by borrowing a different field, producing a right decision with the wrong stated reason.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400" y="4718304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5A6B77"/>
                </a:solidFill>
                <a:latin typeface="Calibri"/>
              </a:rPr>
              <a:t>Improper denial rationale.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715000"/>
            <a:ext cx="10607040" cy="548640"/>
          </a:xfrm>
          <a:prstGeom prst="roundRect">
            <a:avLst/>
          </a:prstGeom>
          <a:solidFill>
            <a:srgbClr val="F2F5F7"/>
          </a:solidFill>
          <a:ln w="9525">
            <a:solidFill>
              <a:srgbClr val="D8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57607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F2233"/>
                </a:solidFill>
                <a:latin typeface="Calibri"/>
              </a:rPr>
              <a:t>Three rounds of prompt tightening suppressed each failure without eliminating it, even at temperature 0. Prompt engineering is not reliability engineering.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3276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B77"/>
                </a:solidFill>
                <a:latin typeface="Calibri"/>
              </a:rPr>
              <a:t>policy2rules  |  Content management in health care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32764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B77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F7A8C"/>
                </a:solidFill>
                <a:latin typeface="Calibri"/>
              </a:rPr>
              <a:t>THE FIX THAT GENERALIZES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F2233"/>
                </a:solidFill>
                <a:latin typeface="Calibri"/>
              </a:rPr>
              <a:t>Make every rule cite its source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27632"/>
            <a:ext cx="10607040" cy="12700"/>
          </a:xfrm>
          <a:prstGeom prst="rect">
            <a:avLst/>
          </a:prstGeom>
          <a:solidFill>
            <a:srgbClr val="D8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20240"/>
            <a:ext cx="5760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50" b="0" i="0">
                <a:solidFill>
                  <a:srgbClr val="0F2233"/>
                </a:solidFill>
                <a:latin typeface="Calibri"/>
              </a:rPr>
              <a:t>Each rule now carries the policy section its conditions encode, and the claims table shows it alongside the decision.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50" b="0" i="0">
                <a:solidFill>
                  <a:srgbClr val="0F2233"/>
                </a:solidFill>
                <a:latin typeface="Calibri"/>
              </a:rPr>
              <a:t>This is the citation-linked rationale CMS-0057-F expects payers to give with a denial.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50" b="0" i="0">
                <a:solidFill>
                  <a:srgbClr val="0F2233"/>
                </a:solidFill>
                <a:latin typeface="Calibri"/>
              </a:rPr>
              <a:t>It also turns a silent model error into a visible, checkable claim: a rule citing section 1.6 while testing a field from 1.7 is wrong on its face.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50" b="1" i="0">
                <a:solidFill>
                  <a:srgbClr val="1F7A8C"/>
                </a:solidFill>
                <a:latin typeface="Calibri"/>
              </a:rPr>
              <a:t>The same feature answers the compliance requirement and the model-risk problem.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12280" y="1920240"/>
            <a:ext cx="4572000" cy="3657600"/>
          </a:xfrm>
          <a:prstGeom prst="roundRect">
            <a:avLst/>
          </a:prstGeom>
          <a:solidFill>
            <a:srgbClr val="F2F5F7"/>
          </a:solidFill>
          <a:ln w="9525">
            <a:solidFill>
              <a:srgbClr val="D8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0" y="2148840"/>
            <a:ext cx="3931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B5501E"/>
                </a:solidFill>
                <a:latin typeface="Calibri"/>
              </a:rPr>
              <a:t>BEFORE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5A6B77"/>
                </a:solidFill>
                <a:latin typeface="Calibri"/>
              </a:rPr>
              <a:t>DENY — "Beneficiary or caregiver must be trained on the use of the device."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200" b="0" i="0">
                <a:solidFill>
                  <a:srgbClr val="5A6B77"/>
                </a:solidFill>
                <a:latin typeface="Calibri"/>
              </a:rPr>
              <a:t>Correct decision. Wrong explanation. Nothing on screen revealed it.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E6B4F"/>
                </a:solidFill>
                <a:latin typeface="Calibri"/>
              </a:rPr>
              <a:t>AFTER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0F2233"/>
                </a:solidFill>
                <a:latin typeface="Calibri"/>
              </a:rPr>
              <a:t>DENY — section 1.7 — "No documentation of prior therapy failure; criterion 1.7 requires evidence of inadequate control."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B77"/>
                </a:solidFill>
                <a:latin typeface="Calibri"/>
              </a:rPr>
              <a:t>Decision, reason, and source travel together and can be checked against the policy.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B77"/>
                </a:solidFill>
                <a:latin typeface="Calibri"/>
              </a:rPr>
              <a:t>policy2rules  |  Content management in health care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32764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B77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F7A8C"/>
                </a:solidFill>
                <a:latin typeface="Calibri"/>
              </a:rPr>
              <a:t>STRATEGIC 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F2233"/>
                </a:solidFill>
                <a:latin typeface="Calibri"/>
              </a:rPr>
              <a:t>Three paths, no bet on unproven technology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27632"/>
            <a:ext cx="10607040" cy="12700"/>
          </a:xfrm>
          <a:prstGeom prst="rect">
            <a:avLst/>
          </a:prstGeom>
          <a:solidFill>
            <a:srgbClr val="D8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965960"/>
            <a:ext cx="10607040" cy="1234440"/>
          </a:xfrm>
          <a:prstGeom prst="roundRect">
            <a:avLst/>
          </a:prstGeom>
          <a:solidFill>
            <a:srgbClr val="F2F5F7"/>
          </a:solidFill>
          <a:ln w="9525">
            <a:solidFill>
              <a:srgbClr val="D8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65960"/>
            <a:ext cx="82296" cy="123444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093976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1F7A8C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2075688"/>
            <a:ext cx="94183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1F7A8C"/>
                </a:solidFill>
                <a:latin typeface="Calibri"/>
              </a:rPr>
              <a:t>INTERNAL POLICY INTELLIGENCE PLATFORM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F2233"/>
                </a:solidFill>
                <a:latin typeface="Calibri"/>
              </a:rPr>
              <a:t>An LLM pipeline that ingests billing policies, coverage criteria, and contracts; produces structured summaries and version-to-version change reports; and drafts rule candidates that human policy analysts approve before anything is deployed.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5A6B77"/>
                </a:solidFill>
                <a:latin typeface="Calibri"/>
              </a:rPr>
              <a:t>Recommended. Speeds up the edit-development lifecycle already at the center of the business, fits the stated augmented-intelligence principle, and turns the corpus of validated policy-to-rule mappings into intellectual property that is hard to copy.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337560"/>
            <a:ext cx="10607040" cy="1234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3337560"/>
            <a:ext cx="82296" cy="1234440"/>
          </a:xfrm>
          <a:prstGeom prst="rect">
            <a:avLst/>
          </a:prstGeom>
          <a:solidFill>
            <a:srgbClr val="5A6B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465576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5A6B77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447288"/>
            <a:ext cx="94183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0F2233"/>
                </a:solidFill>
                <a:latin typeface="Calibri"/>
              </a:rPr>
              <a:t>CMS-0057-F READINESS SERVICE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F2233"/>
                </a:solidFill>
                <a:latin typeface="Calibri"/>
              </a:rPr>
              <a:t>Point the same capability outward: convert client medical policies into FHIR-aligned, API-ready prior authorization criteria with citation-linked denial explanations.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5A6B77"/>
                </a:solidFill>
                <a:latin typeface="Calibri"/>
              </a:rPr>
              <a:t>The 2026 and 2027 deadlines give this a natural sense of urgency.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709160"/>
            <a:ext cx="10607040" cy="1234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4709160"/>
            <a:ext cx="82296" cy="1234440"/>
          </a:xfrm>
          <a:prstGeom prst="rect">
            <a:avLst/>
          </a:prstGeom>
          <a:solidFill>
            <a:srgbClr val="5A6B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837176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5A6B77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4818888"/>
            <a:ext cx="94183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0F2233"/>
                </a:solidFill>
                <a:latin typeface="Calibri"/>
              </a:rPr>
              <a:t>RELIABILITY AS THE PRODUCT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F2233"/>
                </a:solidFill>
                <a:latin typeface="Calibri"/>
              </a:rPr>
              <a:t>Formalize the evaluation harnesses, dual-model cross-checks, and consistency-threshold review queues the literature points toward, then market that governance framework to clients.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5A6B77"/>
                </a:solidFill>
                <a:latin typeface="Calibri"/>
              </a:rPr>
              <a:t>In a market where one accuracy failure can end a client relationship, provable reliability is a competitive position, not just a safeguard.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961888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F2233"/>
                </a:solidFill>
                <a:latin typeface="Calibri"/>
              </a:rPr>
              <a:t>First build: programmatic validation - reject any rule whose cited section does not contain the field it tests.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3276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B77"/>
                </a:solidFill>
                <a:latin typeface="Calibri"/>
              </a:rPr>
              <a:t>policy2rules  |  Content management in health care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32764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B77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F7A8C"/>
                </a:solidFill>
                <a:latin typeface="Calibri"/>
              </a:rPr>
              <a:t>TRY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916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The proof of concept is 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834640"/>
            <a:ext cx="5943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F7A8C"/>
                </a:solidFill>
                <a:latin typeface="Calibri"/>
              </a:rPr>
              <a:t>APPLICATION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policy2rules.streamlit.app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FC5CE"/>
                </a:solidFill>
                <a:latin typeface="Calibri"/>
              </a:rPr>
              <a:t>Runs offline against canned samples when no API key is configured, so every tab works without cost.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443484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F7A8C"/>
                </a:solidFill>
                <a:latin typeface="Calibri"/>
              </a:rPr>
              <a:t>SOURCE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github.com/Nagavenkatasai7/policy2rules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FC5CE"/>
                </a:solidFill>
                <a:latin typeface="Calibri"/>
              </a:rPr>
              <a:t>Single file, two dependencies, under 230 lines.</a:t>
            </a:r>
          </a:p>
        </p:txBody>
      </p:sp>
      <p:pic>
        <p:nvPicPr>
          <p:cNvPr id="8" name="Picture 7" descr="screenshot-1785989714711-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743200"/>
            <a:ext cx="4023360" cy="219112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51560" y="6035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FC5CE"/>
                </a:solidFill>
                <a:latin typeface="Calibri"/>
              </a:rPr>
              <a:t>Naga Venkata Sai Chennu  |  August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policy2rules - Converting Policy Documents into Computable Assets</dc:title>
  <dc:subject/>
  <dc:creator>Naga Venkata Sai Chennu</dc:creator>
  <cp:keywords/>
  <dc:description>generated using python-pptx</dc:description>
  <cp:lastModifiedBy>Naga Venkata Sai Chennu</cp:lastModifiedBy>
  <cp:revision>1</cp:revision>
  <dcterms:created xsi:type="dcterms:W3CDTF">2013-01-27T09:14:16Z</dcterms:created>
  <dcterms:modified xsi:type="dcterms:W3CDTF">2013-01-27T09:15:58Z</dcterms:modified>
  <cp:category/>
</cp:coreProperties>
</file>